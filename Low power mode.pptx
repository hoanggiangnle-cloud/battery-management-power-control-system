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76" r:id="rId2"/>
    <p:sldId id="278" r:id="rId3"/>
    <p:sldId id="275" r:id="rId4"/>
    <p:sldId id="279" r:id="rId5"/>
    <p:sldId id="300" r:id="rId6"/>
    <p:sldId id="301" r:id="rId7"/>
    <p:sldId id="302" r:id="rId8"/>
    <p:sldId id="303" r:id="rId9"/>
    <p:sldId id="304" r:id="rId10"/>
    <p:sldId id="305" r:id="rId11"/>
    <p:sldId id="298" r:id="rId12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00"/>
    <a:srgbClr val="969696"/>
    <a:srgbClr val="FAA9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2" autoAdjust="0"/>
    <p:restoredTop sz="95657" autoAdjust="0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/>
          </a:p>
        </p:txBody>
      </p:sp>
      <p:sp>
        <p:nvSpPr>
          <p:cNvPr id="706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/>
          </a:p>
        </p:txBody>
      </p:sp>
      <p:sp>
        <p:nvSpPr>
          <p:cNvPr id="706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0DD9B359-3C40-40D0-9641-0AF6D6B0EE1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5880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C1FF4-501E-417A-B71B-CA534D31E637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DA621D-D213-47E6-8EF4-77EE7EB23D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260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DA621D-D213-47E6-8EF4-77EE7EB23DD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281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3352800" y="5791200"/>
            <a:ext cx="6299200" cy="3810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 algn="r">
              <a:buFont typeface="Wingdings" pitchFamily="2" charset="2"/>
              <a:buNone/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3759200" y="2667000"/>
            <a:ext cx="7620000" cy="91440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0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625600" y="6629400"/>
            <a:ext cx="1828800" cy="2286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73600" y="6629400"/>
            <a:ext cx="1320800" cy="228600"/>
          </a:xfrm>
        </p:spPr>
        <p:txBody>
          <a:bodyPr/>
          <a:lstStyle>
            <a:lvl1pPr>
              <a:defRPr/>
            </a:lvl1pPr>
          </a:lstStyle>
          <a:p>
            <a:fld id="{4CABA248-E004-490A-87A7-AF5AE6C8CF6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24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03" name="Group 79"/>
          <p:cNvGrpSpPr>
            <a:grpSpLocks/>
          </p:cNvGrpSpPr>
          <p:nvPr/>
        </p:nvGrpSpPr>
        <p:grpSpPr bwMode="auto">
          <a:xfrm>
            <a:off x="914400" y="685800"/>
            <a:ext cx="11277600" cy="260350"/>
            <a:chOff x="2448" y="384"/>
            <a:chExt cx="3312" cy="212"/>
          </a:xfrm>
        </p:grpSpPr>
        <p:sp>
          <p:nvSpPr>
            <p:cNvPr id="1101" name="Rectangle 77"/>
            <p:cNvSpPr>
              <a:spLocks noChangeArrowheads="1"/>
            </p:cNvSpPr>
            <p:nvPr userDrawn="1"/>
          </p:nvSpPr>
          <p:spPr bwMode="gray">
            <a:xfrm>
              <a:off x="2448" y="384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02" name="Rectangle 78"/>
            <p:cNvSpPr>
              <a:spLocks noChangeArrowheads="1"/>
            </p:cNvSpPr>
            <p:nvPr userDrawn="1"/>
          </p:nvSpPr>
          <p:spPr bwMode="gray">
            <a:xfrm>
              <a:off x="2448" y="500"/>
              <a:ext cx="3312" cy="96"/>
            </a:xfrm>
            <a:prstGeom prst="rect">
              <a:avLst/>
            </a:prstGeom>
            <a:gradFill rotWithShape="1">
              <a:gsLst>
                <a:gs pos="0">
                  <a:srgbClr val="969696">
                    <a:gamma/>
                    <a:tint val="0"/>
                    <a:invGamma/>
                    <a:alpha val="0"/>
                  </a:srgbClr>
                </a:gs>
                <a:gs pos="100000">
                  <a:srgbClr val="969696">
                    <a:alpha val="27000"/>
                  </a:srgb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08000" y="1295400"/>
            <a:ext cx="11074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white">
          <a:xfrm>
            <a:off x="1625600" y="6622078"/>
            <a:ext cx="19304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white">
          <a:xfrm>
            <a:off x="11250705" y="6619253"/>
            <a:ext cx="9652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B608ACBE-18DD-4A3E-988B-5FCF99E57120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gray">
          <a:xfrm>
            <a:off x="1219200" y="457201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53882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grpSp>
        <p:nvGrpSpPr>
          <p:cNvPr id="1097" name="Group 73"/>
          <p:cNvGrpSpPr>
            <a:grpSpLocks/>
          </p:cNvGrpSpPr>
          <p:nvPr/>
        </p:nvGrpSpPr>
        <p:grpSpPr bwMode="auto">
          <a:xfrm>
            <a:off x="480484" y="457200"/>
            <a:ext cx="711200" cy="609600"/>
            <a:chOff x="4128" y="1920"/>
            <a:chExt cx="1010" cy="1104"/>
          </a:xfrm>
        </p:grpSpPr>
        <p:sp>
          <p:nvSpPr>
            <p:cNvPr id="1093" name="Freeform 69"/>
            <p:cNvSpPr>
              <a:spLocks/>
            </p:cNvSpPr>
            <p:nvPr userDrawn="1"/>
          </p:nvSpPr>
          <p:spPr bwMode="gray">
            <a:xfrm>
              <a:off x="412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4" name="Freeform 70"/>
            <p:cNvSpPr>
              <a:spLocks/>
            </p:cNvSpPr>
            <p:nvPr userDrawn="1"/>
          </p:nvSpPr>
          <p:spPr bwMode="gray">
            <a:xfrm rot="5400000">
              <a:off x="412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5" name="Freeform 71"/>
            <p:cNvSpPr>
              <a:spLocks/>
            </p:cNvSpPr>
            <p:nvPr userDrawn="1"/>
          </p:nvSpPr>
          <p:spPr bwMode="gray">
            <a:xfrm>
              <a:off x="4608" y="1920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6" name="Freeform 72"/>
            <p:cNvSpPr>
              <a:spLocks/>
            </p:cNvSpPr>
            <p:nvPr userDrawn="1"/>
          </p:nvSpPr>
          <p:spPr bwMode="gray">
            <a:xfrm rot="5400000">
              <a:off x="4609" y="2495"/>
              <a:ext cx="528" cy="530"/>
            </a:xfrm>
            <a:custGeom>
              <a:avLst/>
              <a:gdLst>
                <a:gd name="T0" fmla="*/ 0 w 528"/>
                <a:gd name="T1" fmla="*/ 0 h 530"/>
                <a:gd name="T2" fmla="*/ 0 w 528"/>
                <a:gd name="T3" fmla="*/ 192 h 530"/>
                <a:gd name="T4" fmla="*/ 340 w 528"/>
                <a:gd name="T5" fmla="*/ 530 h 530"/>
                <a:gd name="T6" fmla="*/ 528 w 528"/>
                <a:gd name="T7" fmla="*/ 528 h 530"/>
                <a:gd name="T8" fmla="*/ 528 w 528"/>
                <a:gd name="T9" fmla="*/ 336 h 530"/>
                <a:gd name="T10" fmla="*/ 196 w 528"/>
                <a:gd name="T11" fmla="*/ 0 h 530"/>
                <a:gd name="T12" fmla="*/ 0 w 528"/>
                <a:gd name="T13" fmla="*/ 0 h 5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28" h="530">
                  <a:moveTo>
                    <a:pt x="0" y="0"/>
                  </a:moveTo>
                  <a:lnTo>
                    <a:pt x="0" y="192"/>
                  </a:lnTo>
                  <a:lnTo>
                    <a:pt x="340" y="530"/>
                  </a:lnTo>
                  <a:lnTo>
                    <a:pt x="528" y="528"/>
                  </a:lnTo>
                  <a:lnTo>
                    <a:pt x="528" y="336"/>
                  </a:lnTo>
                  <a:lnTo>
                    <a:pt x="19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4"/>
          <p:cNvSpPr txBox="1"/>
          <p:nvPr userDrawn="1"/>
        </p:nvSpPr>
        <p:spPr>
          <a:xfrm>
            <a:off x="5689600" y="6465366"/>
            <a:ext cx="553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b="1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HCMC</a:t>
            </a:r>
            <a:r>
              <a:rPr lang="en-US"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400" b="1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University of Technology and Education</a:t>
            </a:r>
            <a:endParaRPr lang="en-US" sz="14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Font typeface="Wingdings" pitchFamily="2" charset="2"/>
        <a:buChar char="§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4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eepbluembedded.com/stm32-sleep-mode-wakeup-pin-example-code/#stm32-wakeup-exit-sleep-mod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3200400" y="2143115"/>
            <a:ext cx="8610600" cy="1752599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LOW POWER MODE</a:t>
            </a:r>
          </a:p>
        </p:txBody>
      </p:sp>
      <p:sp>
        <p:nvSpPr>
          <p:cNvPr id="72710" name="Text Box 6"/>
          <p:cNvSpPr txBox="1">
            <a:spLocks noChangeArrowheads="1"/>
          </p:cNvSpPr>
          <p:nvPr/>
        </p:nvSpPr>
        <p:spPr bwMode="auto">
          <a:xfrm>
            <a:off x="6852979" y="3864320"/>
            <a:ext cx="3265638" cy="491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r">
              <a:lnSpc>
                <a:spcPct val="150000"/>
              </a:lnSpc>
            </a:pPr>
            <a:r>
              <a:rPr lang="en-US" sz="2000" b="1" dirty="0">
                <a:solidFill>
                  <a:schemeClr val="accent2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Guide: Huỳnh Hoàng Hà</a:t>
            </a:r>
          </a:p>
        </p:txBody>
      </p:sp>
      <p:pic>
        <p:nvPicPr>
          <p:cNvPr id="5" name="Hình ảnh 4">
            <a:extLst>
              <a:ext uri="{FF2B5EF4-FFF2-40B4-BE49-F238E27FC236}">
                <a16:creationId xmlns:a16="http://schemas.microsoft.com/office/drawing/2014/main" id="{F6F2E0B4-01DD-EDA6-127D-3B979E1539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1752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1E28-D200-4D26-99AA-DC1A1DC50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731837"/>
            <a:ext cx="10058400" cy="563563"/>
          </a:xfrm>
        </p:spPr>
        <p:txBody>
          <a:bodyPr/>
          <a:lstStyle/>
          <a:p>
            <a:r>
              <a:rPr lang="vi-VN" dirty="0"/>
              <a:t>1.STM32 Sleep Mode</a:t>
            </a:r>
            <a:br>
              <a:rPr lang="vi-VN" dirty="0"/>
            </a:b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6F4495B-F7C3-1F1F-4B69-167B3A84C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90484"/>
            <a:ext cx="11074400" cy="4724400"/>
          </a:xfrm>
        </p:spPr>
        <p:txBody>
          <a:bodyPr/>
          <a:lstStyle/>
          <a:p>
            <a:pPr marL="0" indent="0">
              <a:buNone/>
            </a:pPr>
            <a:r>
              <a:rPr lang="vi-VN" sz="2400" b="1" dirty="0"/>
              <a:t>Đặc điểm Sleep Mode</a:t>
            </a:r>
          </a:p>
          <a:p>
            <a:r>
              <a:rPr lang="vi-VN" sz="2400" dirty="0"/>
              <a:t>CPU dừng hoạt động (nghỉ).</a:t>
            </a:r>
          </a:p>
          <a:p>
            <a:r>
              <a:rPr lang="vi-VN" sz="2400" dirty="0"/>
              <a:t>Các </a:t>
            </a:r>
            <a:r>
              <a:rPr lang="vi-VN" sz="2400" b="1" dirty="0"/>
              <a:t>ngoại vi</a:t>
            </a:r>
            <a:r>
              <a:rPr lang="vi-VN" sz="2400" dirty="0"/>
              <a:t> (USART, SPI, I2C, Timer, ADC...) vẫn hoạt động bình thường.</a:t>
            </a:r>
          </a:p>
          <a:p>
            <a:r>
              <a:rPr lang="vi-VN" sz="2400" dirty="0"/>
              <a:t>Các nguồn xung clock khác ngoài CPU vẫn duy trì.</a:t>
            </a:r>
            <a:endParaRPr lang="en-US" sz="2400" dirty="0"/>
          </a:p>
          <a:p>
            <a:r>
              <a:rPr lang="vi-VN" sz="2400" dirty="0"/>
              <a:t>Tiết kiệm năng lượng mà vẫn duy trì hoạt động ngoại vi.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 err="1"/>
              <a:t>Cách</a:t>
            </a:r>
            <a:r>
              <a:rPr lang="en-US" sz="2400" b="1" dirty="0"/>
              <a:t> </a:t>
            </a:r>
            <a:r>
              <a:rPr lang="en-US" sz="2400" b="1" dirty="0" err="1"/>
              <a:t>đánh</a:t>
            </a:r>
            <a:r>
              <a:rPr lang="en-US" sz="2400" b="1" dirty="0"/>
              <a:t> </a:t>
            </a:r>
            <a:r>
              <a:rPr lang="en-US" sz="2400" b="1" dirty="0" err="1"/>
              <a:t>thức</a:t>
            </a:r>
            <a:r>
              <a:rPr lang="en-US" sz="2400" b="1" dirty="0"/>
              <a:t> CPU</a:t>
            </a:r>
          </a:p>
          <a:p>
            <a:r>
              <a:rPr lang="en-US" sz="2400" b="1" dirty="0" err="1"/>
              <a:t>Ngắt</a:t>
            </a:r>
            <a:r>
              <a:rPr lang="en-US" sz="2400" b="1" dirty="0"/>
              <a:t> (Interrupt)</a:t>
            </a:r>
            <a:r>
              <a:rPr lang="en-US" sz="2400" dirty="0"/>
              <a:t> </a:t>
            </a:r>
            <a:r>
              <a:rPr lang="en-US" sz="2400" dirty="0" err="1"/>
              <a:t>từ</a:t>
            </a:r>
            <a:r>
              <a:rPr lang="en-US" sz="2400" dirty="0"/>
              <a:t> </a:t>
            </a:r>
            <a:r>
              <a:rPr lang="en-US" sz="2400" dirty="0" err="1"/>
              <a:t>ngoại</a:t>
            </a:r>
            <a:r>
              <a:rPr lang="en-US" sz="2400" dirty="0"/>
              <a:t> vi, </a:t>
            </a:r>
            <a:r>
              <a:rPr lang="en-US" sz="2400" dirty="0" err="1"/>
              <a:t>khi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ngắt</a:t>
            </a:r>
            <a:r>
              <a:rPr lang="en-US" sz="2400" dirty="0"/>
              <a:t> </a:t>
            </a:r>
            <a:r>
              <a:rPr lang="en-US" sz="2400" dirty="0" err="1"/>
              <a:t>thì</a:t>
            </a:r>
            <a:r>
              <a:rPr lang="en-US" sz="2400" dirty="0"/>
              <a:t> CPU </a:t>
            </a:r>
            <a:r>
              <a:rPr lang="en-US" sz="2400" dirty="0" err="1"/>
              <a:t>sẽ</a:t>
            </a:r>
            <a:r>
              <a:rPr lang="en-US" sz="2400" dirty="0"/>
              <a:t> </a:t>
            </a:r>
            <a:r>
              <a:rPr lang="en-US" sz="2400" b="1" dirty="0" err="1"/>
              <a:t>thức</a:t>
            </a:r>
            <a:r>
              <a:rPr lang="en-US" sz="2400" b="1" dirty="0"/>
              <a:t> </a:t>
            </a:r>
            <a:r>
              <a:rPr lang="en-US" sz="2400" b="1" dirty="0" err="1"/>
              <a:t>dậy</a:t>
            </a:r>
            <a:r>
              <a:rPr lang="en-US" sz="2400" dirty="0"/>
              <a:t>,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rồi</a:t>
            </a:r>
            <a:r>
              <a:rPr lang="en-US" sz="2400" dirty="0"/>
              <a:t> </a:t>
            </a:r>
            <a:r>
              <a:rPr lang="en-US" sz="2400" dirty="0" err="1"/>
              <a:t>có</a:t>
            </a:r>
            <a:r>
              <a:rPr lang="en-US" sz="2400" dirty="0"/>
              <a:t> </a:t>
            </a:r>
            <a:r>
              <a:rPr lang="en-US" sz="2400" dirty="0" err="1"/>
              <a:t>thể</a:t>
            </a:r>
            <a:r>
              <a:rPr lang="en-US" sz="2400" dirty="0"/>
              <a:t> quay </a:t>
            </a:r>
            <a:r>
              <a:rPr lang="en-US" sz="2400" dirty="0" err="1"/>
              <a:t>lại</a:t>
            </a:r>
            <a:r>
              <a:rPr lang="en-US" sz="2400" dirty="0"/>
              <a:t> Sleep.</a:t>
            </a:r>
          </a:p>
          <a:p>
            <a:r>
              <a:rPr lang="en-US" sz="2400" b="1" dirty="0" err="1"/>
              <a:t>Tín</a:t>
            </a:r>
            <a:r>
              <a:rPr lang="en-US" sz="2400" b="1" dirty="0"/>
              <a:t> </a:t>
            </a:r>
            <a:r>
              <a:rPr lang="en-US" sz="2400" b="1" dirty="0" err="1"/>
              <a:t>hiệu</a:t>
            </a:r>
            <a:r>
              <a:rPr lang="en-US" sz="2400" b="1" dirty="0"/>
              <a:t> </a:t>
            </a:r>
            <a:r>
              <a:rPr lang="en-US" sz="2400" b="1" dirty="0" err="1"/>
              <a:t>sự</a:t>
            </a:r>
            <a:r>
              <a:rPr lang="en-US" sz="2400" b="1" dirty="0"/>
              <a:t> </a:t>
            </a:r>
            <a:r>
              <a:rPr lang="en-US" sz="2400" b="1" dirty="0" err="1"/>
              <a:t>kiện</a:t>
            </a:r>
            <a:r>
              <a:rPr lang="en-US" sz="2400" dirty="0"/>
              <a:t> (Event), event </a:t>
            </a:r>
            <a:r>
              <a:rPr lang="en-US" sz="2400" dirty="0" err="1"/>
              <a:t>chỉ</a:t>
            </a:r>
            <a:r>
              <a:rPr lang="en-US" sz="2400" dirty="0"/>
              <a:t> </a:t>
            </a:r>
            <a:r>
              <a:rPr lang="en-US" sz="2400" dirty="0" err="1"/>
              <a:t>đánh</a:t>
            </a:r>
            <a:r>
              <a:rPr lang="en-US" sz="2400" dirty="0"/>
              <a:t> </a:t>
            </a:r>
            <a:r>
              <a:rPr lang="en-US" sz="2400" dirty="0" err="1"/>
              <a:t>thức</a:t>
            </a:r>
            <a:r>
              <a:rPr lang="en-US" sz="2400" dirty="0"/>
              <a:t> CPU, </a:t>
            </a:r>
            <a:r>
              <a:rPr lang="en-US" sz="2400" dirty="0" err="1"/>
              <a:t>không</a:t>
            </a:r>
            <a:r>
              <a:rPr lang="en-US" sz="2400" dirty="0"/>
              <a:t> </a:t>
            </a:r>
            <a:r>
              <a:rPr lang="en-US" sz="2400" dirty="0" err="1"/>
              <a:t>chạy</a:t>
            </a:r>
            <a:r>
              <a:rPr lang="en-US" sz="2400" dirty="0"/>
              <a:t> </a:t>
            </a:r>
            <a:r>
              <a:rPr lang="en-US" sz="2400" dirty="0" err="1"/>
              <a:t>hàm</a:t>
            </a:r>
            <a:r>
              <a:rPr lang="en-US" sz="2400" dirty="0"/>
              <a:t> </a:t>
            </a:r>
            <a:r>
              <a:rPr lang="en-US" sz="2400" dirty="0" err="1"/>
              <a:t>xử</a:t>
            </a:r>
            <a:r>
              <a:rPr lang="en-US" sz="2400" dirty="0"/>
              <a:t> </a:t>
            </a:r>
            <a:r>
              <a:rPr lang="en-US" sz="2400" dirty="0" err="1"/>
              <a:t>lý</a:t>
            </a:r>
            <a:r>
              <a:rPr lang="en-US" sz="2400" dirty="0"/>
              <a:t> </a:t>
            </a:r>
            <a:r>
              <a:rPr lang="en-US" sz="2400" dirty="0" err="1"/>
              <a:t>ngắt</a:t>
            </a:r>
            <a:r>
              <a:rPr lang="en-US" sz="2400" dirty="0"/>
              <a:t>.</a:t>
            </a:r>
          </a:p>
          <a:p>
            <a:pPr marL="0" indent="0">
              <a:buNone/>
            </a:pPr>
            <a:endParaRPr lang="vi-VN" sz="2400" dirty="0"/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5426704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5" name="WordArt 3"/>
          <p:cNvSpPr>
            <a:spLocks noChangeArrowheads="1" noChangeShapeType="1" noTextEdit="1"/>
          </p:cNvSpPr>
          <p:nvPr/>
        </p:nvSpPr>
        <p:spPr bwMode="gray">
          <a:xfrm>
            <a:off x="2842661" y="2819400"/>
            <a:ext cx="6858000" cy="7620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endParaRPr lang="en-US" sz="5400" b="1" kern="10" dirty="0">
              <a:ln w="19050">
                <a:solidFill>
                  <a:schemeClr val="bg1"/>
                </a:solidFill>
                <a:round/>
                <a:headEnd/>
                <a:tailEnd/>
              </a:ln>
              <a:gradFill rotWithShape="1">
                <a:gsLst>
                  <a:gs pos="0">
                    <a:schemeClr val="accent1"/>
                  </a:gs>
                  <a:gs pos="100000">
                    <a:schemeClr val="folHlink"/>
                  </a:gs>
                </a:gsLst>
                <a:lin ang="5400000" scaled="1"/>
              </a:gradFill>
              <a:effectLst>
                <a:outerShdw dist="71842" dir="2700000" algn="ctr" rotWithShape="0">
                  <a:schemeClr val="tx1">
                    <a:alpha val="50000"/>
                  </a:schemeClr>
                </a:outerShdw>
              </a:effectLst>
              <a:latin typeface="Verdana"/>
              <a:ea typeface="Verdana"/>
              <a:cs typeface="Verdana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C7C2B25-21CB-ADE6-48FA-3D8710F2D3DF}"/>
              </a:ext>
            </a:extLst>
          </p:cNvPr>
          <p:cNvSpPr txBox="1">
            <a:spLocks/>
          </p:cNvSpPr>
          <p:nvPr/>
        </p:nvSpPr>
        <p:spPr bwMode="gray">
          <a:xfrm>
            <a:off x="762000" y="457200"/>
            <a:ext cx="100584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vi-VN" sz="2800" kern="0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2800" dirty="0">
                <a:solidFill>
                  <a:schemeClr val="accent5">
                    <a:lumMod val="50000"/>
                  </a:schemeClr>
                </a:solidFill>
              </a:rPr>
              <a:t>STM32 – Enter Sleep Mode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7123F92E-1A7F-6A9B-8D40-EAA5130A5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75163B-6265-4277-E6EC-113426753D0A}"/>
              </a:ext>
            </a:extLst>
          </p:cNvPr>
          <p:cNvSpPr txBox="1">
            <a:spLocks/>
          </p:cNvSpPr>
          <p:nvPr/>
        </p:nvSpPr>
        <p:spPr bwMode="gray">
          <a:xfrm>
            <a:off x="1447800" y="1371600"/>
            <a:ext cx="10187539" cy="160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sz="4000" b="1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algn="l"/>
            <a:r>
              <a:rPr lang="vi-VN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 điểm Sleep Mode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400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STM32 vào chế độ tiết kiệm năng lượng.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vi-VN" sz="2400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CPU dừng thực thi lệnh, nhưng:</a:t>
            </a:r>
          </a:p>
          <a:p>
            <a:pPr lvl="1"/>
            <a:r>
              <a:rPr lang="vi-VN" sz="2400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SRAM &amp; thanh ghi vẫn giữ nguyên.</a:t>
            </a:r>
          </a:p>
          <a:p>
            <a:pPr lvl="1"/>
            <a:r>
              <a:rPr lang="vi-VN" sz="2400" b="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Ngoại vi vẫn hoạt động (tùy cấu hình).</a:t>
            </a:r>
          </a:p>
          <a:p>
            <a:pPr algn="l"/>
            <a:endParaRPr lang="en-US" sz="2800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BD69EE-AC00-7B3B-263A-6D43C3F9C14B}"/>
              </a:ext>
            </a:extLst>
          </p:cNvPr>
          <p:cNvSpPr txBox="1"/>
          <p:nvPr/>
        </p:nvSpPr>
        <p:spPr>
          <a:xfrm flipH="1">
            <a:off x="1295400" y="3034605"/>
            <a:ext cx="10515600" cy="3877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Các bước vào Sleep Mode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Dừng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SysTick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Timer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để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tránh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CPU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bị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liên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tục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HAL_SuspendTick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hàm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Sleep Mode: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HAL_PWR_EnterSLEEPMode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(PWR_MAINREGULATOR_ON, PWR_SLEEPENTRY_WFI);</a:t>
            </a:r>
          </a:p>
          <a:p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đánh</a:t>
            </a: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endParaRPr lang="en-US" sz="2400" b="1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WFI (Wait For Interrupt): CPU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dậy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ngắt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WFE (Wait For Event): CPU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thức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dậy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khi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kiện</a:t>
            </a: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193FC-BC95-7C92-9801-84123D4609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>
                <a:hlinkClick r:id="rId2"/>
              </a:rPr>
              <a:t>3. STM32 Wakeup (Exit) Sleep Mode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F34C7-588E-410B-A647-8D8B0D92F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000" y="1295400"/>
            <a:ext cx="11303000" cy="4724400"/>
          </a:xfrm>
        </p:spPr>
        <p:txBody>
          <a:bodyPr/>
          <a:lstStyle/>
          <a:p>
            <a:pPr marL="0" indent="0">
              <a:buNone/>
            </a:pPr>
            <a:r>
              <a:rPr lang="vi-VN" sz="2400" b="1" dirty="0"/>
              <a:t>Cơ chế đánh thức</a:t>
            </a:r>
          </a:p>
          <a:p>
            <a:r>
              <a:rPr lang="vi-VN" sz="2400" dirty="0"/>
              <a:t>Chỉ cần có </a:t>
            </a:r>
            <a:r>
              <a:rPr lang="vi-VN" sz="2400" b="1" dirty="0"/>
              <a:t>tín hiệu ngắt (Interrupt)</a:t>
            </a:r>
            <a:r>
              <a:rPr lang="vi-VN" sz="2400" dirty="0"/>
              <a:t> → CPU thoát khỏi Sleep Mode và hoạt động lại bình thường.</a:t>
            </a:r>
          </a:p>
          <a:p>
            <a:r>
              <a:rPr lang="vi-VN" sz="2400" dirty="0"/>
              <a:t>Có thể dùng:</a:t>
            </a:r>
          </a:p>
          <a:p>
            <a:pPr lvl="1"/>
            <a:r>
              <a:rPr lang="vi-VN" b="1" dirty="0">
                <a:solidFill>
                  <a:schemeClr val="accent1">
                    <a:lumMod val="50000"/>
                  </a:schemeClr>
                </a:solidFill>
              </a:rPr>
              <a:t>EXTI</a:t>
            </a:r>
            <a:r>
              <a:rPr lang="vi-VN" dirty="0">
                <a:solidFill>
                  <a:schemeClr val="accent1">
                    <a:lumMod val="50000"/>
                  </a:schemeClr>
                </a:solidFill>
              </a:rPr>
              <a:t> (ngắt ngoài, ví dụ nút nhấn).</a:t>
            </a:r>
          </a:p>
          <a:p>
            <a:pPr lvl="1"/>
            <a:r>
              <a:rPr lang="vi-VN" b="1" dirty="0">
                <a:solidFill>
                  <a:schemeClr val="accent1">
                    <a:lumMod val="50000"/>
                  </a:schemeClr>
                </a:solidFill>
              </a:rPr>
              <a:t>Timer/Counter</a:t>
            </a:r>
            <a:r>
              <a:rPr lang="vi-VN" dirty="0">
                <a:solidFill>
                  <a:schemeClr val="accent1">
                    <a:lumMod val="50000"/>
                  </a:schemeClr>
                </a:solidFill>
              </a:rPr>
              <a:t> (ngắt định kỳ).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buNone/>
            </a:pP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Khôi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phục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SysTick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Timer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vào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Sleep Mode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đã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gọi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HAL_SuspendTick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r>
              <a:rPr lang="vi-V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Khi CPU được đánh thức → gọi lại: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HAL_ResumeTick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endParaRPr lang="vi-VN" dirty="0"/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82567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09858-F727-5FE1-C731-2DB3BD31A6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EC708-47AA-8587-B99C-990F216B8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731837"/>
            <a:ext cx="10058400" cy="563563"/>
          </a:xfrm>
        </p:spPr>
        <p:txBody>
          <a:bodyPr/>
          <a:lstStyle/>
          <a:p>
            <a:r>
              <a:rPr lang="vi-VN" dirty="0"/>
              <a:t>1.STM32 S</a:t>
            </a:r>
            <a:r>
              <a:rPr lang="en-US" dirty="0"/>
              <a:t>top</a:t>
            </a:r>
            <a:r>
              <a:rPr lang="vi-VN" dirty="0"/>
              <a:t> Mode</a:t>
            </a:r>
            <a:br>
              <a:rPr lang="vi-VN" dirty="0"/>
            </a:b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75A7567D-326B-BAC2-2679-111C36A6C8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1200" y="1290484"/>
            <a:ext cx="11074400" cy="4724400"/>
          </a:xfrm>
        </p:spPr>
        <p:txBody>
          <a:bodyPr/>
          <a:lstStyle/>
          <a:p>
            <a:r>
              <a:rPr lang="vi-VN" dirty="0">
                <a:solidFill>
                  <a:schemeClr val="tx2"/>
                </a:solidFill>
              </a:rPr>
              <a:t>Khái niệm: Chế độ tiết kiệm năng lượng sâu hơn Sleep mode, dừng toàn bộ clock (kể cả system clock) nhưng vẫn giữ nguyên RAM &amp; thanh ghi.</a:t>
            </a:r>
          </a:p>
          <a:p>
            <a:r>
              <a:rPr lang="vi-VN" dirty="0">
                <a:solidFill>
                  <a:schemeClr val="tx2"/>
                </a:solidFill>
              </a:rPr>
              <a:t>Regulator: Hoạt động ở Main mode hoặc Low-power mode để tối ưu điện năng.</a:t>
            </a:r>
          </a:p>
          <a:p>
            <a:r>
              <a:rPr lang="vi-VN" dirty="0">
                <a:solidFill>
                  <a:schemeClr val="tx2"/>
                </a:solidFill>
              </a:rPr>
              <a:t>Nguồn đánh thức:</a:t>
            </a:r>
          </a:p>
          <a:p>
            <a:pPr lvl="1"/>
            <a:r>
              <a:rPr lang="vi-VN" dirty="0">
                <a:solidFill>
                  <a:schemeClr val="tx2"/>
                </a:solidFill>
              </a:rPr>
              <a:t>Ngắt ngoài (EXTI / GPIO).</a:t>
            </a:r>
          </a:p>
          <a:p>
            <a:pPr lvl="1"/>
            <a:r>
              <a:rPr lang="vi-VN" dirty="0">
                <a:solidFill>
                  <a:schemeClr val="tx2"/>
                </a:solidFill>
              </a:rPr>
              <a:t>RTC (Real Time Clock).</a:t>
            </a:r>
          </a:p>
          <a:p>
            <a:pPr lvl="1"/>
            <a:r>
              <a:rPr lang="vi-VN" dirty="0">
                <a:solidFill>
                  <a:schemeClr val="tx2"/>
                </a:solidFill>
              </a:rPr>
              <a:t>Các sự kiện ngoại vi khác (I²C, USART, SPI...).</a:t>
            </a:r>
          </a:p>
          <a:p>
            <a:pPr marL="0" indent="0">
              <a:buNone/>
            </a:pPr>
            <a:endParaRPr lang="vi-VN" sz="2400" dirty="0"/>
          </a:p>
          <a:p>
            <a:pPr marL="0" indent="0" algn="just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903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40B6D2-8140-FA02-98F1-91D38E77F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457200"/>
            <a:ext cx="11074400" cy="4724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Entering Stop Mode – STM32</a:t>
            </a:r>
          </a:p>
          <a:p>
            <a:r>
              <a:rPr lang="en-US" b="1" dirty="0" err="1"/>
              <a:t>Tạm</a:t>
            </a:r>
            <a:r>
              <a:rPr lang="en-US" b="1" dirty="0"/>
              <a:t> </a:t>
            </a:r>
            <a:r>
              <a:rPr lang="en-US" b="1" dirty="0" err="1"/>
              <a:t>dừng</a:t>
            </a:r>
            <a:r>
              <a:rPr lang="en-US" b="1" dirty="0"/>
              <a:t> </a:t>
            </a:r>
            <a:r>
              <a:rPr lang="en-US" b="1" dirty="0" err="1"/>
              <a:t>SysTick</a:t>
            </a:r>
            <a:endParaRPr lang="en-US" dirty="0"/>
          </a:p>
          <a:p>
            <a:pPr lvl="1"/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tắt</a:t>
            </a:r>
            <a:r>
              <a:rPr lang="en-US" dirty="0"/>
              <a:t> </a:t>
            </a:r>
            <a:r>
              <a:rPr lang="en-US" dirty="0" err="1"/>
              <a:t>SysTick</a:t>
            </a:r>
            <a:r>
              <a:rPr lang="en-US" dirty="0"/>
              <a:t>, </a:t>
            </a:r>
            <a:r>
              <a:rPr lang="en-US" dirty="0" err="1"/>
              <a:t>ngắt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tục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MCU.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HAL_SuspendTick</a:t>
            </a:r>
            <a:r>
              <a:rPr lang="en-US" dirty="0"/>
              <a:t>();   // Disable </a:t>
            </a:r>
            <a:r>
              <a:rPr lang="en-US" dirty="0" err="1"/>
              <a:t>SysTick</a:t>
            </a:r>
            <a:r>
              <a:rPr lang="en-US" dirty="0"/>
              <a:t> interrupt</a:t>
            </a:r>
          </a:p>
          <a:p>
            <a:r>
              <a:rPr lang="en-US" b="1" dirty="0" err="1"/>
              <a:t>Thực</a:t>
            </a:r>
            <a:r>
              <a:rPr lang="en-US" b="1" dirty="0"/>
              <a:t> </a:t>
            </a:r>
            <a:r>
              <a:rPr lang="en-US" b="1" dirty="0" err="1"/>
              <a:t>thi</a:t>
            </a:r>
            <a:r>
              <a:rPr lang="en-US" b="1" dirty="0"/>
              <a:t> </a:t>
            </a:r>
            <a:r>
              <a:rPr lang="en-US" b="1" dirty="0" err="1"/>
              <a:t>lệnh</a:t>
            </a:r>
            <a:r>
              <a:rPr lang="en-US" b="1" dirty="0"/>
              <a:t> </a:t>
            </a:r>
            <a:r>
              <a:rPr lang="en-US" b="1" dirty="0" err="1"/>
              <a:t>vào</a:t>
            </a:r>
            <a:r>
              <a:rPr lang="en-US" b="1" dirty="0"/>
              <a:t> Stop Mode</a:t>
            </a:r>
            <a:endParaRPr lang="en-US" dirty="0"/>
          </a:p>
          <a:p>
            <a:pPr lvl="1"/>
            <a:r>
              <a:rPr lang="en-US" dirty="0" err="1"/>
              <a:t>Dùng</a:t>
            </a:r>
            <a:r>
              <a:rPr lang="en-US" dirty="0"/>
              <a:t> </a:t>
            </a:r>
            <a:r>
              <a:rPr lang="en-US" b="1" dirty="0"/>
              <a:t>WFI (Wait For Interrupt)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b="1" dirty="0"/>
              <a:t>WFE (Wait For Event)</a:t>
            </a:r>
            <a:r>
              <a:rPr lang="en-US" dirty="0"/>
              <a:t>.</a:t>
            </a:r>
          </a:p>
          <a:p>
            <a:pPr lvl="1"/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b="1" dirty="0"/>
              <a:t>WFI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gồm</a:t>
            </a:r>
            <a:r>
              <a:rPr lang="en-US" dirty="0"/>
              <a:t>:</a:t>
            </a:r>
          </a:p>
          <a:p>
            <a:pPr lvl="2"/>
            <a:r>
              <a:rPr lang="en-US" b="1" dirty="0"/>
              <a:t>EXTI (</a:t>
            </a:r>
            <a:r>
              <a:rPr lang="en-US" b="1" dirty="0" err="1"/>
              <a:t>ngắt</a:t>
            </a:r>
            <a:r>
              <a:rPr lang="en-US" b="1" dirty="0"/>
              <a:t> </a:t>
            </a:r>
            <a:r>
              <a:rPr lang="en-US" b="1" dirty="0" err="1"/>
              <a:t>ngoài</a:t>
            </a:r>
            <a:r>
              <a:rPr lang="en-US" b="1" dirty="0"/>
              <a:t>)</a:t>
            </a:r>
            <a:endParaRPr lang="en-US" dirty="0"/>
          </a:p>
          <a:p>
            <a:pPr lvl="2"/>
            <a:r>
              <a:rPr lang="en-US" b="1" dirty="0"/>
              <a:t>RTC (Real Time Clock)</a:t>
            </a:r>
            <a:endParaRPr lang="en-US" dirty="0"/>
          </a:p>
          <a:p>
            <a:pPr lvl="2"/>
            <a:r>
              <a:rPr lang="en-US" b="1" dirty="0"/>
              <a:t>Independent Watchdog (IWDG)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HAL_PWR_EnterSTOPMode</a:t>
            </a:r>
            <a:r>
              <a:rPr lang="en-US" dirty="0"/>
              <a:t>(PWR_LOWPOWERREGULATOR_ON, PWR_STOPENTRY_WFI);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6013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02B106-3023-CBB5-57B9-9184735C2C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7600" y="228600"/>
            <a:ext cx="11074400" cy="4724400"/>
          </a:xfrm>
        </p:spPr>
        <p:txBody>
          <a:bodyPr/>
          <a:lstStyle/>
          <a:p>
            <a:pPr marL="0" indent="0">
              <a:buNone/>
            </a:pPr>
            <a:r>
              <a:rPr lang="vi-VN" sz="2400" b="1" dirty="0"/>
              <a:t>Wakeup from Stop Mode – STM32</a:t>
            </a:r>
          </a:p>
          <a:p>
            <a:pPr marL="0" indent="0">
              <a:buNone/>
            </a:pPr>
            <a:r>
              <a:rPr lang="vi-VN" sz="2400" b="1" dirty="0"/>
              <a:t>1. Cơ chế đánh thức</a:t>
            </a:r>
          </a:p>
          <a:p>
            <a:r>
              <a:rPr lang="vi-VN" sz="2400" dirty="0"/>
              <a:t>Khi vào Stop Mode bằng WFI, MCU sẽ được đánh thức bởi:</a:t>
            </a:r>
          </a:p>
          <a:p>
            <a:pPr lvl="1"/>
            <a:r>
              <a:rPr lang="vi-VN" sz="2000" dirty="0"/>
              <a:t>EXTI (External Interrupt)</a:t>
            </a:r>
          </a:p>
          <a:p>
            <a:pPr lvl="1"/>
            <a:r>
              <a:rPr lang="vi-VN" sz="2000" dirty="0"/>
              <a:t>RTC (Real Time Clock)</a:t>
            </a:r>
          </a:p>
          <a:p>
            <a:pPr lvl="1"/>
            <a:r>
              <a:rPr lang="vi-VN" sz="2000" dirty="0"/>
              <a:t>Independent Watchdog (IWDG)</a:t>
            </a:r>
          </a:p>
          <a:p>
            <a:pPr marL="0" indent="0">
              <a:buNone/>
            </a:pPr>
            <a:r>
              <a:rPr lang="vi-VN" sz="2400" b="1" dirty="0"/>
              <a:t>2. Khôi phục hệ thống sau khi tỉnh dậy</a:t>
            </a:r>
          </a:p>
          <a:p>
            <a:r>
              <a:rPr lang="vi-VN" sz="2000" dirty="0"/>
              <a:t>Clock system bị tắt trong Stop Mode → cần cấu hình lại System Clock.</a:t>
            </a:r>
          </a:p>
          <a:p>
            <a:r>
              <a:rPr lang="vi-VN" sz="2000" dirty="0"/>
              <a:t>SysTick cũng đã bị suspend → cần Resume lại SysTick.</a:t>
            </a:r>
          </a:p>
          <a:p>
            <a:pPr marL="0" indent="0">
              <a:buNone/>
            </a:pPr>
            <a:r>
              <a:rPr lang="vi-VN" sz="2400" b="1" dirty="0"/>
              <a:t>3. Ví dụ code callback</a:t>
            </a:r>
          </a:p>
          <a:p>
            <a:pPr marL="0" indent="0">
              <a:buNone/>
            </a:pPr>
            <a:r>
              <a:rPr lang="vi-VN" sz="1800" dirty="0"/>
              <a:t>void HAL_GPIO_EXTI_Callback(uint16_t GPIO_Pin){</a:t>
            </a:r>
          </a:p>
          <a:p>
            <a:pPr marL="0" indent="0">
              <a:buNone/>
            </a:pPr>
            <a:r>
              <a:rPr lang="vi-VN" sz="1800" dirty="0"/>
              <a:t>    if(GPIO_Pin == GPIO_PIN_13) {// Ngắt ngoài từ nút bấm        </a:t>
            </a:r>
            <a:endParaRPr lang="en-US" sz="1800" dirty="0"/>
          </a:p>
          <a:p>
            <a:pPr marL="0" indent="0">
              <a:buNone/>
            </a:pPr>
            <a:r>
              <a:rPr lang="vi-VN" sz="1800" dirty="0"/>
              <a:t>SystemClock_Config();   // Khôi phục clock</a:t>
            </a:r>
          </a:p>
          <a:p>
            <a:pPr marL="0" indent="0">
              <a:buNone/>
            </a:pPr>
            <a:r>
              <a:rPr lang="vi-VN" sz="1800" dirty="0"/>
              <a:t>        HAL_ResumeTick();       // Resume SysTick</a:t>
            </a:r>
          </a:p>
          <a:p>
            <a:pPr marL="0" indent="0">
              <a:buNone/>
            </a:pPr>
            <a:r>
              <a:rPr lang="vi-VN" sz="1800" dirty="0"/>
              <a:t>    }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vi-VN" sz="2400" dirty="0"/>
              <a:t>}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53564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B4F899-3673-6EAD-6020-53E725FD2D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609600"/>
            <a:ext cx="11074400" cy="4724400"/>
          </a:xfrm>
        </p:spPr>
        <p:txBody>
          <a:bodyPr/>
          <a:lstStyle/>
          <a:p>
            <a:pPr marL="0" indent="0">
              <a:buNone/>
            </a:pPr>
            <a:r>
              <a:rPr lang="vi-VN" b="1" dirty="0"/>
              <a:t>Standby Mode – STM32</a:t>
            </a:r>
          </a:p>
          <a:p>
            <a:pPr marL="0" indent="0">
              <a:buNone/>
            </a:pPr>
            <a:r>
              <a:rPr lang="vi-VN" b="1" dirty="0"/>
              <a:t>1. Đặc điểm</a:t>
            </a:r>
            <a:endParaRPr lang="vi-VN" dirty="0"/>
          </a:p>
          <a:p>
            <a:r>
              <a:rPr lang="vi-VN" dirty="0"/>
              <a:t>Tiêu thụ điện năng </a:t>
            </a:r>
            <a:r>
              <a:rPr lang="vi-VN" b="1" dirty="0"/>
              <a:t>thấp nhất</a:t>
            </a:r>
            <a:r>
              <a:rPr lang="vi-VN" dirty="0"/>
              <a:t>.</a:t>
            </a:r>
          </a:p>
          <a:p>
            <a:r>
              <a:rPr lang="vi-VN" dirty="0"/>
              <a:t>Dựa trên chế độ </a:t>
            </a:r>
            <a:r>
              <a:rPr lang="vi-VN" b="1" dirty="0"/>
              <a:t>Cortex-M4 Deep Sleep</a:t>
            </a:r>
            <a:r>
              <a:rPr lang="vi-VN" dirty="0"/>
              <a:t> với </a:t>
            </a:r>
            <a:r>
              <a:rPr lang="vi-VN" b="1" dirty="0"/>
              <a:t>Voltage Regulator tắt</a:t>
            </a:r>
            <a:r>
              <a:rPr lang="vi-VN" dirty="0"/>
              <a:t>.</a:t>
            </a:r>
          </a:p>
          <a:p>
            <a:r>
              <a:rPr lang="vi-VN" dirty="0"/>
              <a:t>Domain 1.2 V → </a:t>
            </a:r>
            <a:r>
              <a:rPr lang="vi-VN" b="1" dirty="0"/>
              <a:t>Power Off</a:t>
            </a:r>
            <a:r>
              <a:rPr lang="vi-VN" dirty="0"/>
              <a:t>.</a:t>
            </a:r>
          </a:p>
          <a:p>
            <a:r>
              <a:rPr lang="vi-VN" b="1" dirty="0"/>
              <a:t>PLL, HSI, HSE</a:t>
            </a:r>
            <a:r>
              <a:rPr lang="vi-VN" dirty="0"/>
              <a:t> đều bị tắt.</a:t>
            </a:r>
          </a:p>
          <a:p>
            <a:r>
              <a:rPr lang="vi-VN" dirty="0"/>
              <a:t>Chỉ </a:t>
            </a:r>
            <a:r>
              <a:rPr lang="vi-VN" b="1" dirty="0"/>
              <a:t>Backup registers</a:t>
            </a:r>
            <a:r>
              <a:rPr lang="vi-VN" dirty="0"/>
              <a:t> và </a:t>
            </a:r>
            <a:r>
              <a:rPr lang="vi-VN" b="1" dirty="0"/>
              <a:t>RTC</a:t>
            </a:r>
            <a:r>
              <a:rPr lang="vi-VN" dirty="0"/>
              <a:t> (nếu bật) còn giữ lại.</a:t>
            </a:r>
          </a:p>
        </p:txBody>
      </p:sp>
    </p:spTree>
    <p:extLst>
      <p:ext uri="{BB962C8B-B14F-4D97-AF65-F5344CB8AC3E}">
        <p14:creationId xmlns:p14="http://schemas.microsoft.com/office/powerpoint/2010/main" val="1432706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614603-FAE2-5324-9AFE-4AFA2E03E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609600"/>
            <a:ext cx="11074400" cy="4724400"/>
          </a:xfrm>
        </p:spPr>
        <p:txBody>
          <a:bodyPr/>
          <a:lstStyle/>
          <a:p>
            <a:pPr marL="0" indent="0">
              <a:buNone/>
            </a:pPr>
            <a:r>
              <a:rPr lang="vi-VN" b="1" dirty="0"/>
              <a:t>2. </a:t>
            </a:r>
            <a:r>
              <a:rPr lang="en-US" b="1" dirty="0"/>
              <a:t>Entering </a:t>
            </a:r>
            <a:r>
              <a:rPr lang="vi-VN" b="1" dirty="0"/>
              <a:t>Standby Mode</a:t>
            </a:r>
            <a:br>
              <a:rPr lang="vi-VN" dirty="0"/>
            </a:br>
            <a:r>
              <a:rPr lang="en-US" dirty="0"/>
              <a:t>	</a:t>
            </a:r>
            <a:r>
              <a:rPr lang="vi-VN" dirty="0"/>
              <a:t>Cần xóa cờ đánh thức (Wakeup Flags) để tránh MCU bị thức dậy ngay lập tức:</a:t>
            </a:r>
          </a:p>
          <a:p>
            <a:pPr marL="0" indent="0">
              <a:buNone/>
            </a:pPr>
            <a:r>
              <a:rPr lang="vi-VN" dirty="0"/>
              <a:t>/* Clear the Wakeup flag */</a:t>
            </a:r>
          </a:p>
          <a:p>
            <a:pPr marL="0" indent="0">
              <a:buNone/>
            </a:pPr>
            <a:r>
              <a:rPr lang="vi-VN" dirty="0"/>
              <a:t>__HAL_PWR_CLEAR_FLAG(PWR_FLAG_WU);</a:t>
            </a:r>
          </a:p>
          <a:p>
            <a:endParaRPr lang="vi-VN" dirty="0"/>
          </a:p>
          <a:p>
            <a:pPr marL="0" indent="0">
              <a:buNone/>
            </a:pPr>
            <a:r>
              <a:rPr lang="vi-VN" dirty="0"/>
              <a:t>/* Clear the RTC Wakeup flag */</a:t>
            </a:r>
          </a:p>
          <a:p>
            <a:pPr marL="0" indent="0">
              <a:buNone/>
            </a:pPr>
            <a:r>
              <a:rPr lang="vi-VN" dirty="0"/>
              <a:t>__HAL_RTC_WAKEUPTIMER_CLEAR_FLAG(&amp;hrtc, RTC_FLAG_WUTF);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2004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15FB3-43BE-AB7B-495D-B6ECBAF677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28600"/>
            <a:ext cx="11074400" cy="4724400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/>
              <a:t>Wakeup &amp; Enter Standby Mode – STM32</a:t>
            </a:r>
          </a:p>
          <a:p>
            <a:pPr marL="0" indent="0">
              <a:buNone/>
            </a:pPr>
            <a:r>
              <a:rPr lang="en-US" sz="2200" b="1" dirty="0"/>
              <a:t>1. </a:t>
            </a:r>
            <a:r>
              <a:rPr lang="en-US" sz="2200" b="1" dirty="0" err="1"/>
              <a:t>Cấu</a:t>
            </a:r>
            <a:r>
              <a:rPr lang="en-US" sz="2200" b="1" dirty="0"/>
              <a:t> </a:t>
            </a:r>
            <a:r>
              <a:rPr lang="en-US" sz="2200" b="1" dirty="0" err="1"/>
              <a:t>hình</a:t>
            </a:r>
            <a:r>
              <a:rPr lang="en-US" sz="2200" b="1" dirty="0"/>
              <a:t> </a:t>
            </a:r>
            <a:r>
              <a:rPr lang="en-US" sz="2200" b="1" dirty="0" err="1"/>
              <a:t>nguồn</a:t>
            </a:r>
            <a:r>
              <a:rPr lang="en-US" sz="2200" b="1" dirty="0"/>
              <a:t> </a:t>
            </a:r>
            <a:r>
              <a:rPr lang="en-US" sz="2200" b="1" dirty="0" err="1"/>
              <a:t>đánh</a:t>
            </a:r>
            <a:r>
              <a:rPr lang="en-US" sz="2200" b="1" dirty="0"/>
              <a:t> </a:t>
            </a:r>
            <a:r>
              <a:rPr lang="en-US" sz="2200" b="1" dirty="0" err="1"/>
              <a:t>thức</a:t>
            </a:r>
            <a:br>
              <a:rPr lang="en-US" sz="2200" dirty="0"/>
            </a:br>
            <a:r>
              <a:rPr lang="en-US" sz="2200" dirty="0"/>
              <a:t>	</a:t>
            </a:r>
            <a:r>
              <a:rPr lang="en-US" sz="2200" dirty="0" err="1"/>
              <a:t>Có</a:t>
            </a:r>
            <a:r>
              <a:rPr lang="en-US" sz="2200" dirty="0"/>
              <a:t> 2 </a:t>
            </a:r>
            <a:r>
              <a:rPr lang="en-US" sz="2200" dirty="0" err="1"/>
              <a:t>lựa</a:t>
            </a:r>
            <a:r>
              <a:rPr lang="en-US" sz="2200" dirty="0"/>
              <a:t> </a:t>
            </a:r>
            <a:r>
              <a:rPr lang="en-US" sz="2200" dirty="0" err="1"/>
              <a:t>chọn</a:t>
            </a:r>
            <a:r>
              <a:rPr lang="en-US" sz="2200" dirty="0"/>
              <a:t> </a:t>
            </a:r>
            <a:r>
              <a:rPr lang="en-US" sz="2200" dirty="0" err="1"/>
              <a:t>phổ</a:t>
            </a:r>
            <a:r>
              <a:rPr lang="en-US" sz="2200" dirty="0"/>
              <a:t> </a:t>
            </a:r>
            <a:r>
              <a:rPr lang="en-US" sz="2200" dirty="0" err="1"/>
              <a:t>biến</a:t>
            </a:r>
            <a:r>
              <a:rPr lang="en-US" sz="2200" dirty="0"/>
              <a:t>:</a:t>
            </a:r>
          </a:p>
          <a:p>
            <a:pPr marL="0" indent="0">
              <a:buNone/>
            </a:pPr>
            <a:r>
              <a:rPr lang="en-US" sz="2200" b="1" dirty="0"/>
              <a:t>- Wakeup Pin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	HAL_PWR_EnableWakeUpPin(PWR_WAKEUP_PIN1);</a:t>
            </a:r>
          </a:p>
          <a:p>
            <a:pPr marL="0" indent="0">
              <a:buNone/>
            </a:pPr>
            <a:r>
              <a:rPr lang="en-US" sz="2200" b="1" dirty="0"/>
              <a:t>- RTC Wakeup Timer</a:t>
            </a:r>
            <a:r>
              <a:rPr lang="en-US" sz="2200" dirty="0"/>
              <a:t> (</a:t>
            </a:r>
            <a:r>
              <a:rPr lang="en-US" sz="2200" dirty="0" err="1"/>
              <a:t>ví</a:t>
            </a:r>
            <a:r>
              <a:rPr lang="en-US" sz="2200" dirty="0"/>
              <a:t> </a:t>
            </a:r>
            <a:r>
              <a:rPr lang="en-US" sz="2200" dirty="0" err="1"/>
              <a:t>dụ</a:t>
            </a:r>
            <a:r>
              <a:rPr lang="en-US" sz="2200" dirty="0"/>
              <a:t> 5 </a:t>
            </a:r>
            <a:r>
              <a:rPr lang="en-US" sz="2200" dirty="0" err="1"/>
              <a:t>giây</a:t>
            </a:r>
            <a:r>
              <a:rPr lang="en-US" sz="2200" dirty="0"/>
              <a:t>)</a:t>
            </a:r>
          </a:p>
          <a:p>
            <a:pPr marL="0" indent="0">
              <a:buNone/>
            </a:pPr>
            <a:r>
              <a:rPr lang="en-US" sz="2200" dirty="0"/>
              <a:t>	// Wake-up Time Base = 16 / 32kHz = 0.0005s</a:t>
            </a:r>
          </a:p>
          <a:p>
            <a:pPr marL="0" indent="0">
              <a:buNone/>
            </a:pPr>
            <a:r>
              <a:rPr lang="en-US" sz="2200" dirty="0"/>
              <a:t>	// 5s / 0.0005s = 20000 = 0x2710</a:t>
            </a:r>
          </a:p>
          <a:p>
            <a:pPr marL="0" indent="0">
              <a:buNone/>
            </a:pPr>
            <a:r>
              <a:rPr lang="en-US" sz="2200" dirty="0"/>
              <a:t>	if (</a:t>
            </a:r>
            <a:r>
              <a:rPr lang="en-US" sz="2200" dirty="0" err="1"/>
              <a:t>HAL_RTCEx_SetWakeUpTimer_IT</a:t>
            </a:r>
            <a:r>
              <a:rPr lang="en-US" sz="2200" dirty="0"/>
              <a:t>(&amp;</a:t>
            </a:r>
            <a:r>
              <a:rPr lang="en-US" sz="2200" dirty="0" err="1"/>
              <a:t>hrtc</a:t>
            </a:r>
            <a:r>
              <a:rPr lang="en-US" sz="2200" dirty="0"/>
              <a:t>, 0x2710,</a:t>
            </a:r>
          </a:p>
          <a:p>
            <a:pPr marL="0" indent="0">
              <a:buNone/>
            </a:pPr>
            <a:r>
              <a:rPr lang="en-US" sz="2200" dirty="0"/>
              <a:t>	    RTC_WAKEUPCLOCK_RTCCLK_DIV16) != HAL_OK)</a:t>
            </a:r>
          </a:p>
          <a:p>
            <a:pPr marL="0" indent="0">
              <a:buNone/>
            </a:pPr>
            <a:r>
              <a:rPr lang="en-US" sz="2200" dirty="0"/>
              <a:t>	{</a:t>
            </a:r>
          </a:p>
          <a:p>
            <a:pPr marL="0" indent="0">
              <a:buNone/>
            </a:pPr>
            <a:r>
              <a:rPr lang="en-US" sz="2200" dirty="0"/>
              <a:t>  	  </a:t>
            </a:r>
            <a:r>
              <a:rPr lang="en-US" sz="2200" dirty="0" err="1"/>
              <a:t>Error_Handler</a:t>
            </a:r>
            <a:r>
              <a:rPr lang="en-US" sz="2200" dirty="0"/>
              <a:t>();</a:t>
            </a:r>
          </a:p>
          <a:p>
            <a:pPr marL="0" indent="0">
              <a:buNone/>
            </a:pPr>
            <a:r>
              <a:rPr lang="en-US" sz="2200" dirty="0"/>
              <a:t>	}</a:t>
            </a:r>
          </a:p>
          <a:p>
            <a:pPr marL="0" indent="0">
              <a:buNone/>
            </a:pPr>
            <a:r>
              <a:rPr lang="en-US" sz="2200" b="1" dirty="0"/>
              <a:t>2. </a:t>
            </a:r>
            <a:r>
              <a:rPr lang="en-US" sz="2200" b="1" dirty="0" err="1"/>
              <a:t>Vào</a:t>
            </a:r>
            <a:r>
              <a:rPr lang="en-US" sz="2200" b="1" dirty="0"/>
              <a:t> Standby Mode</a:t>
            </a:r>
            <a:endParaRPr lang="en-US" sz="2200" dirty="0"/>
          </a:p>
          <a:p>
            <a:pPr marL="0" indent="0">
              <a:buNone/>
            </a:pPr>
            <a:r>
              <a:rPr lang="en-US" sz="2200" dirty="0"/>
              <a:t>	</a:t>
            </a:r>
            <a:r>
              <a:rPr lang="en-US" sz="2200" dirty="0" err="1"/>
              <a:t>HAL_PWR_EnterSTANDBYMode</a:t>
            </a:r>
            <a:r>
              <a:rPr lang="en-US" sz="2200" dirty="0"/>
              <a:t>();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4943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DE96-C7D3-09DA-5CCA-157B61780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DAE11B2-0655-D3C7-AD0C-3F00379FDE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752600" y="457201"/>
            <a:ext cx="84254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20519265"/>
      </p:ext>
    </p:extLst>
  </p:cSld>
  <p:clrMapOvr>
    <a:masterClrMapping/>
  </p:clrMapOvr>
</p:sld>
</file>

<file path=ppt/theme/theme1.xml><?xml version="1.0" encoding="utf-8"?>
<a:theme xmlns:a="http://schemas.openxmlformats.org/drawingml/2006/main" name="cdb2004212gl">
  <a:themeElements>
    <a:clrScheme name="Office Theme 1">
      <a:dk1>
        <a:srgbClr val="000000"/>
      </a:dk1>
      <a:lt1>
        <a:srgbClr val="FFFFFF"/>
      </a:lt1>
      <a:dk2>
        <a:srgbClr val="4B546F"/>
      </a:dk2>
      <a:lt2>
        <a:srgbClr val="C0C0C0"/>
      </a:lt2>
      <a:accent1>
        <a:srgbClr val="4987E3"/>
      </a:accent1>
      <a:accent2>
        <a:srgbClr val="D9520F"/>
      </a:accent2>
      <a:accent3>
        <a:srgbClr val="FFFFFF"/>
      </a:accent3>
      <a:accent4>
        <a:srgbClr val="000000"/>
      </a:accent4>
      <a:accent5>
        <a:srgbClr val="B1C3EF"/>
      </a:accent5>
      <a:accent6>
        <a:srgbClr val="C4490C"/>
      </a:accent6>
      <a:hlink>
        <a:srgbClr val="36A1B6"/>
      </a:hlink>
      <a:folHlink>
        <a:srgbClr val="9CC769"/>
      </a:folHlink>
    </a:clrScheme>
    <a:fontScheme name="Office Them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Office Theme 1">
        <a:dk1>
          <a:srgbClr val="000000"/>
        </a:dk1>
        <a:lt1>
          <a:srgbClr val="FFFFFF"/>
        </a:lt1>
        <a:dk2>
          <a:srgbClr val="4B546F"/>
        </a:dk2>
        <a:lt2>
          <a:srgbClr val="C0C0C0"/>
        </a:lt2>
        <a:accent1>
          <a:srgbClr val="4987E3"/>
        </a:accent1>
        <a:accent2>
          <a:srgbClr val="D9520F"/>
        </a:accent2>
        <a:accent3>
          <a:srgbClr val="FFFFFF"/>
        </a:accent3>
        <a:accent4>
          <a:srgbClr val="000000"/>
        </a:accent4>
        <a:accent5>
          <a:srgbClr val="B1C3EF"/>
        </a:accent5>
        <a:accent6>
          <a:srgbClr val="C4490C"/>
        </a:accent6>
        <a:hlink>
          <a:srgbClr val="36A1B6"/>
        </a:hlink>
        <a:folHlink>
          <a:srgbClr val="9CC76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135377"/>
        </a:dk2>
        <a:lt2>
          <a:srgbClr val="969696"/>
        </a:lt2>
        <a:accent1>
          <a:srgbClr val="2AA08A"/>
        </a:accent1>
        <a:accent2>
          <a:srgbClr val="9C88E6"/>
        </a:accent2>
        <a:accent3>
          <a:srgbClr val="FFFFFF"/>
        </a:accent3>
        <a:accent4>
          <a:srgbClr val="000000"/>
        </a:accent4>
        <a:accent5>
          <a:srgbClr val="ACCDC4"/>
        </a:accent5>
        <a:accent6>
          <a:srgbClr val="8D7BD0"/>
        </a:accent6>
        <a:hlink>
          <a:srgbClr val="7D96D3"/>
        </a:hlink>
        <a:folHlink>
          <a:srgbClr val="DEDB7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FF"/>
        </a:lt1>
        <a:dk2>
          <a:srgbClr val="351155"/>
        </a:dk2>
        <a:lt2>
          <a:srgbClr val="969696"/>
        </a:lt2>
        <a:accent1>
          <a:srgbClr val="117AC1"/>
        </a:accent1>
        <a:accent2>
          <a:srgbClr val="38B890"/>
        </a:accent2>
        <a:accent3>
          <a:srgbClr val="FFFFFF"/>
        </a:accent3>
        <a:accent4>
          <a:srgbClr val="000000"/>
        </a:accent4>
        <a:accent5>
          <a:srgbClr val="AABEDD"/>
        </a:accent5>
        <a:accent6>
          <a:srgbClr val="32A682"/>
        </a:accent6>
        <a:hlink>
          <a:srgbClr val="D17FB6"/>
        </a:hlink>
        <a:folHlink>
          <a:srgbClr val="E3981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cdb2004212gl</Template>
  <TotalTime>2145</TotalTime>
  <Words>900</Words>
  <Application>Microsoft Office PowerPoint</Application>
  <PresentationFormat>Widescreen</PresentationFormat>
  <Paragraphs>98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Tahoma</vt:lpstr>
      <vt:lpstr>Times New Roman</vt:lpstr>
      <vt:lpstr>Verdana</vt:lpstr>
      <vt:lpstr>Wingdings</vt:lpstr>
      <vt:lpstr>cdb2004212gl</vt:lpstr>
      <vt:lpstr>LOW POWER MODE</vt:lpstr>
      <vt:lpstr>1.STM32 Sleep Mode </vt:lpstr>
      <vt:lpstr>PowerPoint Presentation</vt:lpstr>
      <vt:lpstr>3. STM32 Wakeup (Exit) Sleep Mode</vt:lpstr>
      <vt:lpstr>1.STM32 Stop Mode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of  Research &amp; Technology and Training</dc:title>
  <dc:creator>FANCA</dc:creator>
  <cp:lastModifiedBy>Gia Hoang</cp:lastModifiedBy>
  <cp:revision>259</cp:revision>
  <cp:lastPrinted>2018-01-16T10:17:52Z</cp:lastPrinted>
  <dcterms:created xsi:type="dcterms:W3CDTF">2017-11-10T03:20:57Z</dcterms:created>
  <dcterms:modified xsi:type="dcterms:W3CDTF">2025-12-19T07:53:56Z</dcterms:modified>
</cp:coreProperties>
</file>